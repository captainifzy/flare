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" charset="1" panose="02030502070405020303"/>
      <p:regular r:id="rId12"/>
    </p:embeddedFont>
    <p:embeddedFont>
      <p:font typeface="Arial" charset="1" panose="020B0604020202020204"/>
      <p:regular r:id="rId13"/>
    </p:embeddedFont>
    <p:embeddedFont>
      <p:font typeface="Arial Bold" charset="1" panose="020B0704020202020204"/>
      <p:regular r:id="rId14"/>
    </p:embeddedFont>
    <p:embeddedFont>
      <p:font typeface="Norwester" charset="1" panose="00000506000000000000"/>
      <p:regular r:id="rId15"/>
    </p:embeddedFont>
    <p:embeddedFont>
      <p:font typeface="Arial Bold Italics" charset="1" panose="020B0704020202090204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Medium" charset="1" panose="00000600000000000000"/>
      <p:regular r:id="rId19"/>
    </p:embeddedFont>
    <p:embeddedFont>
      <p:font typeface="Anton" charset="1" panose="000005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https://esankhyiki.mospi.gov.in" TargetMode="External" Type="http://schemas.openxmlformats.org/officeDocument/2006/relationships/hyperlink"/><Relationship Id="rId5" Target="https://www.dgca.gov.in" TargetMode="External" Type="http://schemas.openxmlformats.org/officeDocument/2006/relationships/hyperlink"/><Relationship Id="rId6" Target="https://www.rbi.org.in" TargetMode="External" Type="http://schemas.openxmlformats.org/officeDocument/2006/relationships/hyperlink"/><Relationship Id="rId7" Target="https://www.un.org/sustainabledevelopment/" TargetMode="External" Type="http://schemas.openxmlformats.org/officeDocument/2006/relationships/hyperlink"/><Relationship Id="rId8" Target="https://www.kaggle.com/datasets/yashdharme36/airfare-ml-predicting-flight-fares" TargetMode="External" Type="http://schemas.openxmlformats.org/officeDocument/2006/relationships/hyperlink"/><Relationship Id="rId9" Target="https://github.com/Vonter/india-aviation-traffic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32534" y="9144"/>
            <a:ext cx="13901736" cy="10286998"/>
            <a:chOff x="0" y="0"/>
            <a:chExt cx="18535648" cy="13715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3565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535650">
                  <a:moveTo>
                    <a:pt x="0" y="0"/>
                  </a:moveTo>
                  <a:lnTo>
                    <a:pt x="18535650" y="0"/>
                  </a:lnTo>
                  <a:lnTo>
                    <a:pt x="1853565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24216" y="3203662"/>
            <a:ext cx="4800598" cy="5143498"/>
            <a:chOff x="0" y="0"/>
            <a:chExt cx="6400798" cy="6857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5" t="0" r="-11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2988" y="9144"/>
            <a:ext cx="3314698" cy="1685924"/>
            <a:chOff x="0" y="0"/>
            <a:chExt cx="4419598" cy="22478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23" t="0" r="-362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64554" y="362980"/>
            <a:ext cx="1160526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SMART INDIA HACKATHON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56940" y="1490693"/>
            <a:ext cx="12851752" cy="854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</a:p>
          <a:p>
            <a:pPr algn="l">
              <a:lnSpc>
                <a:spcPts val="5808"/>
              </a:lnSpc>
            </a:pPr>
            <a:r>
              <a:rPr lang="en-US" sz="4178" spc="2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62348" indent="-381174" lvl="1">
              <a:lnSpc>
                <a:spcPts val="4908"/>
              </a:lnSpc>
              <a:buFont typeface="Arial"/>
              <a:buChar char="•"/>
            </a:pPr>
            <a:r>
              <a:rPr lang="en-US" sz="3531" spc="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</a:t>
            </a:r>
            <a:r>
              <a:rPr lang="en-US" sz="3531" spc="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•SIH26056</a:t>
            </a:r>
          </a:p>
          <a:p>
            <a:pPr algn="l" marL="632811" indent="-316405" lvl="1">
              <a:lnSpc>
                <a:spcPts val="4074"/>
              </a:lnSpc>
              <a:buFont typeface="Arial"/>
              <a:buChar char="•"/>
            </a:pPr>
            <a:r>
              <a:rPr lang="en-US" b="true" sz="2931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  <a:r>
              <a:rPr lang="en-US" sz="2931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US" b="true" sz="2931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31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 algn="l">
              <a:lnSpc>
                <a:spcPts val="4908"/>
              </a:lnSpc>
            </a:pPr>
          </a:p>
          <a:p>
            <a:pPr algn="l" marL="762348" indent="-381174" lvl="1">
              <a:lnSpc>
                <a:spcPts val="4908"/>
              </a:lnSpc>
              <a:buFont typeface="Arial"/>
              <a:buChar char="•"/>
            </a:pP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</a:t>
            </a: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eme- Smart Automation</a:t>
            </a:r>
          </a:p>
          <a:p>
            <a:pPr algn="l" marL="762348" indent="-381174" lvl="1">
              <a:lnSpc>
                <a:spcPts val="4908"/>
              </a:lnSpc>
              <a:buFont typeface="Arial"/>
              <a:buChar char="•"/>
            </a:pP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•PS Category- Software</a:t>
            </a:r>
          </a:p>
          <a:p>
            <a:pPr algn="l" marL="762348" indent="-381174" lvl="1">
              <a:lnSpc>
                <a:spcPts val="4908"/>
              </a:lnSpc>
              <a:buFont typeface="Arial"/>
              <a:buChar char="•"/>
            </a:pP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TeamID - </a:t>
            </a:r>
          </a:p>
          <a:p>
            <a:pPr algn="l" marL="762348" indent="-381174" lvl="1">
              <a:lnSpc>
                <a:spcPts val="4908"/>
              </a:lnSpc>
              <a:buFont typeface="Arial"/>
              <a:buChar char="•"/>
            </a:pPr>
            <a:r>
              <a:rPr lang="en-US" b="true" sz="3531" spc="2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531" spc="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SAPNAK</a:t>
            </a:r>
          </a:p>
          <a:p>
            <a:pPr algn="l" marL="661449" indent="-330724" lvl="1">
              <a:lnSpc>
                <a:spcPts val="4908"/>
              </a:lnSpc>
            </a:pPr>
          </a:p>
          <a:p>
            <a:pPr algn="l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232" y="265932"/>
            <a:ext cx="2114549" cy="1443036"/>
            <a:chOff x="0" y="0"/>
            <a:chExt cx="2819398" cy="192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9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1924050"/>
                  </a:lnTo>
                  <a:lnTo>
                    <a:pt x="0" y="192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2987" y="84582"/>
            <a:ext cx="3314698" cy="1685924"/>
            <a:chOff x="0" y="0"/>
            <a:chExt cx="4419598" cy="2247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3" t="0" r="-36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50435" y="1792000"/>
            <a:ext cx="5405809" cy="648906"/>
            <a:chOff x="0" y="0"/>
            <a:chExt cx="1423752" cy="1709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3752" cy="170905"/>
            </a:xfrm>
            <a:custGeom>
              <a:avLst/>
              <a:gdLst/>
              <a:ahLst/>
              <a:cxnLst/>
              <a:rect r="r" b="b" t="t" l="l"/>
              <a:pathLst>
                <a:path h="170905" w="1423752">
                  <a:moveTo>
                    <a:pt x="0" y="0"/>
                  </a:moveTo>
                  <a:lnTo>
                    <a:pt x="1423752" y="0"/>
                  </a:lnTo>
                  <a:lnTo>
                    <a:pt x="1423752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23752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Proposed Solution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0232" y="1792000"/>
            <a:ext cx="5143554" cy="648906"/>
            <a:chOff x="0" y="0"/>
            <a:chExt cx="1354681" cy="1709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4681" cy="170905"/>
            </a:xfrm>
            <a:custGeom>
              <a:avLst/>
              <a:gdLst/>
              <a:ahLst/>
              <a:cxnLst/>
              <a:rect r="r" b="b" t="t" l="l"/>
              <a:pathLst>
                <a:path h="170905" w="1354681">
                  <a:moveTo>
                    <a:pt x="0" y="0"/>
                  </a:moveTo>
                  <a:lnTo>
                    <a:pt x="1354681" y="0"/>
                  </a:lnTo>
                  <a:lnTo>
                    <a:pt x="1354681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54681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Challenges Faced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80068" y="1770505"/>
            <a:ext cx="6897617" cy="648906"/>
            <a:chOff x="0" y="0"/>
            <a:chExt cx="1816656" cy="170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6656" cy="170905"/>
            </a:xfrm>
            <a:custGeom>
              <a:avLst/>
              <a:gdLst/>
              <a:ahLst/>
              <a:cxnLst/>
              <a:rect r="r" b="b" t="t" l="l"/>
              <a:pathLst>
                <a:path h="170905" w="1816656">
                  <a:moveTo>
                    <a:pt x="0" y="0"/>
                  </a:moveTo>
                  <a:lnTo>
                    <a:pt x="1816656" y="0"/>
                  </a:lnTo>
                  <a:lnTo>
                    <a:pt x="1816656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16656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Product Uniqueness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068" y="6323955"/>
            <a:ext cx="6897617" cy="623887"/>
            <a:chOff x="0" y="0"/>
            <a:chExt cx="1816656" cy="1643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16656" cy="164316"/>
            </a:xfrm>
            <a:custGeom>
              <a:avLst/>
              <a:gdLst/>
              <a:ahLst/>
              <a:cxnLst/>
              <a:rect r="r" b="b" t="t" l="l"/>
              <a:pathLst>
                <a:path h="164316" w="1816656">
                  <a:moveTo>
                    <a:pt x="0" y="0"/>
                  </a:moveTo>
                  <a:lnTo>
                    <a:pt x="1816656" y="0"/>
                  </a:lnTo>
                  <a:lnTo>
                    <a:pt x="1816656" y="164316"/>
                  </a:lnTo>
                  <a:lnTo>
                    <a:pt x="0" y="164316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16656" cy="173841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Why We Stand Out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660581" y="9627102"/>
            <a:ext cx="3395662" cy="31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53942" y="9627102"/>
            <a:ext cx="260985" cy="31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i="true" spc="-75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650435" y="2514491"/>
            <a:ext cx="5405809" cy="7606905"/>
            <a:chOff x="0" y="0"/>
            <a:chExt cx="1423752" cy="20034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3752" cy="2003465"/>
            </a:xfrm>
            <a:custGeom>
              <a:avLst/>
              <a:gdLst/>
              <a:ahLst/>
              <a:cxnLst/>
              <a:rect r="r" b="b" t="t" l="l"/>
              <a:pathLst>
                <a:path h="2003465" w="1423752">
                  <a:moveTo>
                    <a:pt x="0" y="0"/>
                  </a:moveTo>
                  <a:lnTo>
                    <a:pt x="1423752" y="0"/>
                  </a:lnTo>
                  <a:lnTo>
                    <a:pt x="1423752" y="2003465"/>
                  </a:lnTo>
                  <a:lnTo>
                    <a:pt x="0" y="2003465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423752" cy="2022515"/>
            </a:xfrm>
            <a:prstGeom prst="rect">
              <a:avLst/>
            </a:prstGeom>
          </p:spPr>
          <p:txBody>
            <a:bodyPr anchor="ctr" rtlCol="false" tIns="342900" lIns="342900" bIns="342900" rIns="342900"/>
            <a:lstStyle/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CPI relies on slow manual collection. Our real-time data-driven pipeline corrects</a:t>
              </a: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this.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Extraction Engine :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Python scrapers capture quotes (T+1 to T+45).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 Pipeline: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Normalizes data and isolates base fares.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Composite </a:t>
              </a: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Index :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Computes daily weighted APIx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Crowdsourcing :</a:t>
              </a: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Rewards receipt uploads to bypass blocks.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Dual Dashboards: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B2G analytics and freemium B2C portal.</a:t>
              </a:r>
            </a:p>
            <a:p>
              <a:pPr algn="l">
                <a:lnSpc>
                  <a:spcPts val="225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80068" y="2525323"/>
            <a:ext cx="6897617" cy="3824604"/>
            <a:chOff x="0" y="0"/>
            <a:chExt cx="1816656" cy="1007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6656" cy="1007303"/>
            </a:xfrm>
            <a:custGeom>
              <a:avLst/>
              <a:gdLst/>
              <a:ahLst/>
              <a:cxnLst/>
              <a:rect r="r" b="b" t="t" l="l"/>
              <a:pathLst>
                <a:path h="1007303" w="1816656">
                  <a:moveTo>
                    <a:pt x="0" y="0"/>
                  </a:moveTo>
                  <a:lnTo>
                    <a:pt x="1816656" y="0"/>
                  </a:lnTo>
                  <a:lnTo>
                    <a:pt x="1816656" y="1007303"/>
                  </a:lnTo>
                  <a:lnTo>
                    <a:pt x="0" y="1007303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816656" cy="1016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T+45 Advance Window: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Captures fare dynamics from T+1 to T+45.</a:t>
              </a:r>
            </a:p>
            <a:p>
              <a:pPr algn="l">
                <a:lnSpc>
                  <a:spcPts val="799"/>
                </a:lnSpc>
              </a:pPr>
            </a:p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Anti-Bot Shield: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Combines ethical scraping + crowd verification for resilient data collection.</a:t>
              </a:r>
            </a:p>
            <a:p>
              <a:pPr algn="l">
                <a:lnSpc>
                  <a:spcPts val="1899"/>
                </a:lnSpc>
              </a:pPr>
            </a:p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Base Fare Isolation: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Strips taxes, UDF &amp; fees to reveal the core airfare movement.</a:t>
              </a:r>
            </a:p>
            <a:p>
              <a:pPr algn="l">
                <a:lnSpc>
                  <a:spcPts val="1899"/>
                </a:lnSpc>
              </a:pPr>
            </a:p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Laspeyres + DGCA Weighting: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Passenger-weighted indexing reflects real route importance.</a:t>
              </a:r>
            </a:p>
            <a:p>
              <a:pPr algn="l">
                <a:lnSpc>
                  <a:spcPts val="1899"/>
                </a:lnSpc>
              </a:pPr>
            </a:p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Self-Sustaining Loop: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Gamified receipts → continuous ground truth → better data.</a:t>
              </a:r>
            </a:p>
            <a:p>
              <a:pPr algn="l">
                <a:lnSpc>
                  <a:spcPts val="1899"/>
                </a:lnSpc>
              </a:pPr>
            </a:p>
            <a:p>
              <a:pPr algn="l" marL="345438" indent="-172719" lvl="1">
                <a:lnSpc>
                  <a:spcPts val="189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CPI Augmentation: </a:t>
              </a: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Built for direct MoSPI/RBI integration.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79599" y="2514491"/>
            <a:ext cx="5144187" cy="7606905"/>
            <a:chOff x="0" y="0"/>
            <a:chExt cx="1354848" cy="20034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54848" cy="2003465"/>
            </a:xfrm>
            <a:custGeom>
              <a:avLst/>
              <a:gdLst/>
              <a:ahLst/>
              <a:cxnLst/>
              <a:rect r="r" b="b" t="t" l="l"/>
              <a:pathLst>
                <a:path h="2003465" w="1354848">
                  <a:moveTo>
                    <a:pt x="0" y="0"/>
                  </a:moveTo>
                  <a:lnTo>
                    <a:pt x="1354848" y="0"/>
                  </a:lnTo>
                  <a:lnTo>
                    <a:pt x="1354848" y="2003465"/>
                  </a:lnTo>
                  <a:lnTo>
                    <a:pt x="0" y="2003465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354848" cy="2022515"/>
            </a:xfrm>
            <a:prstGeom prst="rect">
              <a:avLst/>
            </a:prstGeom>
          </p:spPr>
          <p:txBody>
            <a:bodyPr anchor="ctr" rtlCol="false" tIns="381000" lIns="381000" bIns="381000" rIns="381000"/>
            <a:lstStyle/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</a:t>
              </a: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Manual &amp; Static:</a:t>
              </a: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Current CPI collection relies on slow offline spot-checks, capturing only a limited snapshot of airfar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</a:t>
              </a: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Dynamic Volatility:</a:t>
              </a: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With 90%+ of tickets sold online, algorithmic pricing can drive 200–400% price swings within a day.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• Macroeconomic Blindspots:</a:t>
              </a: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Missed intra-day fare surges create gaps in CPI measurement and can distort true inflation signals.</a:t>
              </a:r>
            </a:p>
            <a:p>
              <a:pPr algn="l">
                <a:lnSpc>
                  <a:spcPts val="2255"/>
                </a:lnSpc>
              </a:pPr>
            </a:p>
            <a:p>
              <a:pPr algn="l">
                <a:lnSpc>
                  <a:spcPts val="2255"/>
                </a:lnSpc>
              </a:pPr>
              <a:r>
                <a:rPr lang="en-US" sz="18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• Aviation Specifics:</a:t>
              </a:r>
              <a:r>
                <a:rPr lang="en-US" sz="18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Demand, seat scarcity, and advance-booking windows change fares faster than conventional NSO collection cycles can capture.</a:t>
              </a:r>
            </a:p>
            <a:p>
              <a:pPr algn="l">
                <a:lnSpc>
                  <a:spcPts val="225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80068" y="7014516"/>
            <a:ext cx="6897616" cy="3059073"/>
            <a:chOff x="0" y="0"/>
            <a:chExt cx="1816656" cy="8056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16656" cy="805682"/>
            </a:xfrm>
            <a:custGeom>
              <a:avLst/>
              <a:gdLst/>
              <a:ahLst/>
              <a:cxnLst/>
              <a:rect r="r" b="b" t="t" l="l"/>
              <a:pathLst>
                <a:path h="805682" w="1816656">
                  <a:moveTo>
                    <a:pt x="0" y="0"/>
                  </a:moveTo>
                  <a:lnTo>
                    <a:pt x="1816656" y="0"/>
                  </a:lnTo>
                  <a:lnTo>
                    <a:pt x="1816656" y="805682"/>
                  </a:lnTo>
                  <a:lnTo>
                    <a:pt x="0" y="805682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816656" cy="7866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45438" indent="-172719" lvl="1">
                <a:lnSpc>
                  <a:spcPts val="1551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Manual &amp; Slow?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</a:t>
              </a:r>
              <a:r>
                <a:rPr lang="en-US" b="true" sz="1599">
                  <a:solidFill>
                    <a:srgbClr val="42A5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Nodes Capture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:</a:t>
              </a:r>
              <a:r>
                <a:rPr lang="en-US" b="true" sz="1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thousands of daily data points.</a:t>
              </a:r>
            </a:p>
            <a:p>
              <a:pPr algn="l">
                <a:lnSpc>
                  <a:spcPts val="1551"/>
                </a:lnSpc>
              </a:pPr>
            </a:p>
            <a:p>
              <a:pPr algn="l" marL="345438" indent="-172719" lvl="1">
                <a:lnSpc>
                  <a:spcPts val="1551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200-400% Volatility?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</a:t>
              </a:r>
              <a:r>
                <a:rPr lang="en-US" b="true" sz="1599">
                  <a:solidFill>
                    <a:srgbClr val="42A5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Real-Time Track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: </a:t>
              </a:r>
              <a:r>
                <a:rPr lang="en-US" b="true" sz="1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Pipelines capture dynamic surges instantly.</a:t>
              </a:r>
            </a:p>
            <a:p>
              <a:pPr algn="l">
                <a:lnSpc>
                  <a:spcPts val="1551"/>
                </a:lnSpc>
              </a:pPr>
            </a:p>
            <a:p>
              <a:pPr algn="l" marL="345438" indent="-172719" lvl="1">
                <a:lnSpc>
                  <a:spcPts val="1551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Layout &amp; Captchas?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</a:t>
              </a:r>
              <a:r>
                <a:rPr lang="en-US" b="true" sz="1599">
                  <a:solidFill>
                    <a:srgbClr val="42A5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Crowdsourcing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:</a:t>
              </a:r>
              <a:r>
                <a:rPr lang="en-US" b="true" sz="1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User feedback loop bypasses scraper friction.</a:t>
              </a:r>
            </a:p>
            <a:p>
              <a:pPr algn="l">
                <a:lnSpc>
                  <a:spcPts val="1551"/>
                </a:lnSpc>
              </a:pPr>
            </a:p>
            <a:p>
              <a:pPr algn="l" marL="345438" indent="-172719" lvl="1">
                <a:lnSpc>
                  <a:spcPts val="1551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</a:t>
              </a: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storted Metrics?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</a:t>
              </a:r>
              <a:r>
                <a:rPr lang="en-US" b="true" sz="1599">
                  <a:solidFill>
                    <a:srgbClr val="42A5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Base Isolation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: </a:t>
              </a:r>
              <a:r>
                <a:rPr lang="en-US" b="true" sz="1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Ensures government tracks true economic changes.</a:t>
              </a:r>
            </a:p>
            <a:p>
              <a:pPr algn="l">
                <a:lnSpc>
                  <a:spcPts val="1551"/>
                </a:lnSpc>
              </a:pPr>
            </a:p>
            <a:p>
              <a:pPr algn="l" marL="345438" indent="-172719" lvl="1">
                <a:lnSpc>
                  <a:spcPts val="1551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FB3A5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Opaque Pricing?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</a:t>
              </a:r>
              <a:r>
                <a:rPr lang="en-US" b="true" sz="1599">
                  <a:solidFill>
                    <a:srgbClr val="42A5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Transparent B2C</a:t>
              </a:r>
              <a:r>
                <a:rPr lang="en-US" b="true" sz="1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: </a:t>
              </a:r>
              <a:r>
                <a:rPr lang="en-US" b="true" sz="1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Freemium dashboards democratize fare data.</a:t>
              </a:r>
            </a:p>
            <a:p>
              <a:pPr algn="l">
                <a:lnSpc>
                  <a:spcPts val="1551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0" y="9793313"/>
            <a:ext cx="18288000" cy="475243"/>
            <a:chOff x="0" y="0"/>
            <a:chExt cx="4816593" cy="1251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16592" cy="125167"/>
            </a:xfrm>
            <a:custGeom>
              <a:avLst/>
              <a:gdLst/>
              <a:ahLst/>
              <a:cxnLst/>
              <a:rect r="r" b="b" t="t" l="l"/>
              <a:pathLst>
                <a:path h="1251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167"/>
                  </a:lnTo>
                  <a:lnTo>
                    <a:pt x="0" y="12516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816593" cy="18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817605" y="575846"/>
            <a:ext cx="1373257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699" spc="402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IDEA TITLE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5751" y="773137"/>
            <a:ext cx="158351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1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SAPNAK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749738" y="9812495"/>
            <a:ext cx="160377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232" y="127821"/>
            <a:ext cx="2114549" cy="1443036"/>
            <a:chOff x="0" y="0"/>
            <a:chExt cx="2819398" cy="192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9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1924050"/>
                  </a:lnTo>
                  <a:lnTo>
                    <a:pt x="0" y="192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2987" y="84582"/>
            <a:ext cx="3314698" cy="1685924"/>
            <a:chOff x="0" y="0"/>
            <a:chExt cx="4419598" cy="2247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3" t="0" r="-36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793313"/>
            <a:ext cx="18288000" cy="475243"/>
            <a:chOff x="0" y="0"/>
            <a:chExt cx="4816593" cy="125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25167"/>
            </a:xfrm>
            <a:custGeom>
              <a:avLst/>
              <a:gdLst/>
              <a:ahLst/>
              <a:cxnLst/>
              <a:rect r="r" b="b" t="t" l="l"/>
              <a:pathLst>
                <a:path h="1251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167"/>
                  </a:lnTo>
                  <a:lnTo>
                    <a:pt x="0" y="12516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18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0232" y="1821051"/>
            <a:ext cx="5382478" cy="604837"/>
            <a:chOff x="0" y="0"/>
            <a:chExt cx="1417607" cy="15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607" cy="159299"/>
            </a:xfrm>
            <a:custGeom>
              <a:avLst/>
              <a:gdLst/>
              <a:ahLst/>
              <a:cxnLst/>
              <a:rect r="r" b="b" t="t" l="l"/>
              <a:pathLst>
                <a:path h="159299" w="1417607">
                  <a:moveTo>
                    <a:pt x="0" y="0"/>
                  </a:moveTo>
                  <a:lnTo>
                    <a:pt x="1417607" y="0"/>
                  </a:lnTo>
                  <a:lnTo>
                    <a:pt x="1417607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417607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TECH STACK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0232" y="4212985"/>
            <a:ext cx="5382478" cy="5788023"/>
            <a:chOff x="0" y="0"/>
            <a:chExt cx="1417607" cy="1524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607" cy="1524418"/>
            </a:xfrm>
            <a:custGeom>
              <a:avLst/>
              <a:gdLst/>
              <a:ahLst/>
              <a:cxnLst/>
              <a:rect r="r" b="b" t="t" l="l"/>
              <a:pathLst>
                <a:path h="1524418" w="1417607">
                  <a:moveTo>
                    <a:pt x="0" y="0"/>
                  </a:moveTo>
                  <a:lnTo>
                    <a:pt x="1417607" y="0"/>
                  </a:lnTo>
                  <a:lnTo>
                    <a:pt x="1417607" y="1524418"/>
                  </a:lnTo>
                  <a:lnTo>
                    <a:pt x="0" y="1524418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17607" cy="1543468"/>
            </a:xfrm>
            <a:prstGeom prst="rect">
              <a:avLst/>
            </a:prstGeom>
          </p:spPr>
          <p:txBody>
            <a:bodyPr anchor="ctr" rtlCol="false" tIns="381000" lIns="381000" bIns="381000" rIns="381000"/>
            <a:lstStyle/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Next.js + TypeScript: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Responsive dashboard for search, trends &amp; insights.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FastAPI + Python: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Powers data collection, processing, APIs &amp; index calculations.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Playwright / Scrapy: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Automated collectors for permitted sources.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Amadeus + Apify: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Structured airfare data integration.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PostgreSQL + Redis: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Historical storage, caching &amp; fast data access.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Celery / APScheduler: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Handles scheduled and background scraping.</a:t>
              </a:r>
            </a:p>
            <a:p>
              <a:pPr algn="l">
                <a:lnSpc>
                  <a:spcPts val="237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28135" y="1792000"/>
            <a:ext cx="5773445" cy="604837"/>
            <a:chOff x="0" y="0"/>
            <a:chExt cx="1520578" cy="1592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0578" cy="159299"/>
            </a:xfrm>
            <a:custGeom>
              <a:avLst/>
              <a:gdLst/>
              <a:ahLst/>
              <a:cxnLst/>
              <a:rect r="r" b="b" t="t" l="l"/>
              <a:pathLst>
                <a:path h="159299" w="1520578">
                  <a:moveTo>
                    <a:pt x="0" y="0"/>
                  </a:moveTo>
                  <a:lnTo>
                    <a:pt x="1520578" y="0"/>
                  </a:lnTo>
                  <a:lnTo>
                    <a:pt x="1520578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520578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Live Airfare Intelligence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77686" y="2415887"/>
            <a:ext cx="5674344" cy="7377427"/>
            <a:chOff x="0" y="0"/>
            <a:chExt cx="1494478" cy="19430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4477" cy="1943026"/>
            </a:xfrm>
            <a:custGeom>
              <a:avLst/>
              <a:gdLst/>
              <a:ahLst/>
              <a:cxnLst/>
              <a:rect r="r" b="b" t="t" l="l"/>
              <a:pathLst>
                <a:path h="1943026" w="1494477">
                  <a:moveTo>
                    <a:pt x="0" y="0"/>
                  </a:moveTo>
                  <a:lnTo>
                    <a:pt x="1494477" y="0"/>
                  </a:lnTo>
                  <a:lnTo>
                    <a:pt x="1494477" y="1943026"/>
                  </a:lnTo>
                  <a:lnTo>
                    <a:pt x="0" y="1943026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494478" cy="1952551"/>
            </a:xfrm>
            <a:prstGeom prst="rect">
              <a:avLst/>
            </a:prstGeom>
          </p:spPr>
          <p:txBody>
            <a:bodyPr anchor="ctr" rtlCol="false" tIns="381000" lIns="381000" bIns="381000" rIns="381000"/>
            <a:lstStyle/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Real-Time Fare Collection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Collects fares from permitted airline, OTA, Amadeus &amp; Google Flights sources.</a:t>
              </a:r>
            </a:p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India-Wide Search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Supports route and travel-date searches across Indian airports.</a:t>
              </a:r>
            </a:p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Multi-Source Comparison: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Compares fares by airline, route, source and stops.</a:t>
              </a:r>
            </a:p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Availability Monitoring: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Tracks available, limited, sold-out and blocked results.</a:t>
              </a:r>
            </a:p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Live + Historical Data: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Preserves timestamped fares for trend analysis.</a:t>
              </a:r>
            </a:p>
            <a:p>
              <a:pPr algn="l" marL="453385" indent="-226693" lvl="1">
                <a:lnSpc>
                  <a:spcPts val="2492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Economic Intelligence: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Converts fares into APIx and compares airfare inflation with CPI.</a:t>
              </a:r>
            </a:p>
            <a:p>
              <a:pPr algn="l">
                <a:lnSpc>
                  <a:spcPts val="2492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078887" y="2743315"/>
            <a:ext cx="5833072" cy="6005734"/>
          </a:xfrm>
          <a:custGeom>
            <a:avLst/>
            <a:gdLst/>
            <a:ahLst/>
            <a:cxnLst/>
            <a:rect r="r" b="b" t="t" l="l"/>
            <a:pathLst>
              <a:path h="6005734" w="5833072">
                <a:moveTo>
                  <a:pt x="0" y="0"/>
                </a:moveTo>
                <a:lnTo>
                  <a:pt x="5833072" y="0"/>
                </a:lnTo>
                <a:lnTo>
                  <a:pt x="5833072" y="6005734"/>
                </a:lnTo>
                <a:lnTo>
                  <a:pt x="0" y="600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3" t="-7324" r="-1489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80232" y="2425887"/>
            <a:ext cx="5382478" cy="1787098"/>
          </a:xfrm>
          <a:custGeom>
            <a:avLst/>
            <a:gdLst/>
            <a:ahLst/>
            <a:cxnLst/>
            <a:rect r="r" b="b" t="t" l="l"/>
            <a:pathLst>
              <a:path h="1787098" w="5382478">
                <a:moveTo>
                  <a:pt x="0" y="0"/>
                </a:moveTo>
                <a:lnTo>
                  <a:pt x="5382478" y="0"/>
                </a:lnTo>
                <a:lnTo>
                  <a:pt x="5382478" y="1787098"/>
                </a:lnTo>
                <a:lnTo>
                  <a:pt x="0" y="178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051" r="-3145" b="-3788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745154" y="9812495"/>
            <a:ext cx="169545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94781" y="256407"/>
            <a:ext cx="122405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322" u="sng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TECHNICAL APPROACH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9207" y="685032"/>
            <a:ext cx="117659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APNAK</a:t>
            </a:r>
          </a:p>
          <a:p>
            <a:pPr algn="l">
              <a:lnSpc>
                <a:spcPts val="359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6152141" y="1821051"/>
            <a:ext cx="5686563" cy="604837"/>
            <a:chOff x="0" y="0"/>
            <a:chExt cx="1497696" cy="1592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97696" cy="159299"/>
            </a:xfrm>
            <a:custGeom>
              <a:avLst/>
              <a:gdLst/>
              <a:ahLst/>
              <a:cxnLst/>
              <a:rect r="r" b="b" t="t" l="l"/>
              <a:pathLst>
                <a:path h="159299" w="1497696">
                  <a:moveTo>
                    <a:pt x="0" y="0"/>
                  </a:moveTo>
                  <a:lnTo>
                    <a:pt x="1497696" y="0"/>
                  </a:lnTo>
                  <a:lnTo>
                    <a:pt x="1497696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97696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architecture diagram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232" y="265932"/>
            <a:ext cx="2114549" cy="1443036"/>
            <a:chOff x="0" y="0"/>
            <a:chExt cx="2819398" cy="192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9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1924050"/>
                  </a:lnTo>
                  <a:lnTo>
                    <a:pt x="0" y="192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2987" y="84582"/>
            <a:ext cx="3314698" cy="1685924"/>
            <a:chOff x="0" y="0"/>
            <a:chExt cx="4419598" cy="2247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3" t="0" r="-36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8936" y="1964302"/>
            <a:ext cx="6169093" cy="604837"/>
            <a:chOff x="0" y="0"/>
            <a:chExt cx="1624782" cy="159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4782" cy="159299"/>
            </a:xfrm>
            <a:custGeom>
              <a:avLst/>
              <a:gdLst/>
              <a:ahLst/>
              <a:cxnLst/>
              <a:rect r="r" b="b" t="t" l="l"/>
              <a:pathLst>
                <a:path h="159299" w="1624782">
                  <a:moveTo>
                    <a:pt x="0" y="0"/>
                  </a:moveTo>
                  <a:lnTo>
                    <a:pt x="1624782" y="0"/>
                  </a:lnTo>
                  <a:lnTo>
                    <a:pt x="1624782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24782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Technical Feasibility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60732" y="1993828"/>
            <a:ext cx="4645652" cy="604837"/>
            <a:chOff x="0" y="0"/>
            <a:chExt cx="1223546" cy="15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3546" cy="159299"/>
            </a:xfrm>
            <a:custGeom>
              <a:avLst/>
              <a:gdLst/>
              <a:ahLst/>
              <a:cxnLst/>
              <a:rect r="r" b="b" t="t" l="l"/>
              <a:pathLst>
                <a:path h="159299" w="1223546">
                  <a:moveTo>
                    <a:pt x="0" y="0"/>
                  </a:moveTo>
                  <a:lnTo>
                    <a:pt x="1223546" y="0"/>
                  </a:lnTo>
                  <a:lnTo>
                    <a:pt x="1223546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223546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Data PipeLine FLow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936" y="2621992"/>
            <a:ext cx="6171529" cy="5726200"/>
            <a:chOff x="0" y="0"/>
            <a:chExt cx="1625423" cy="15081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5423" cy="1508135"/>
            </a:xfrm>
            <a:custGeom>
              <a:avLst/>
              <a:gdLst/>
              <a:ahLst/>
              <a:cxnLst/>
              <a:rect r="r" b="b" t="t" l="l"/>
              <a:pathLst>
                <a:path h="1508135" w="1625423">
                  <a:moveTo>
                    <a:pt x="0" y="0"/>
                  </a:moveTo>
                  <a:lnTo>
                    <a:pt x="1625423" y="0"/>
                  </a:lnTo>
                  <a:lnTo>
                    <a:pt x="1625423" y="1508135"/>
                  </a:lnTo>
                  <a:lnTo>
                    <a:pt x="0" y="1508135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25423" cy="156528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Data Gathering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Captures live fares from airline &amp; OTA sources.</a:t>
              </a:r>
            </a:p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Smart Data Cleaning :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Normalizes fares and isolates b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ase pric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es.</a:t>
              </a:r>
            </a:p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 for Scale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Handl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high-frequency fare data.</a:t>
              </a:r>
            </a:p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Community Verification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Uses receipts for ground-truth validation.</a:t>
              </a:r>
            </a:p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DemoCollector Fallback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Synthetic fares keep the system running when live scraping fails.</a:t>
              </a:r>
            </a:p>
            <a:p>
              <a:pPr algn="l" marL="453385" indent="-226693" lvl="1">
                <a:lnSpc>
                  <a:spcPts val="2981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Cost-Effective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Built with open-source tools and public data.</a:t>
              </a:r>
            </a:p>
            <a:p>
              <a:pPr algn="l">
                <a:lnSpc>
                  <a:spcPts val="298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19059" y="2360160"/>
            <a:ext cx="5846307" cy="6008555"/>
            <a:chOff x="0" y="0"/>
            <a:chExt cx="1539768" cy="158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9768" cy="1582500"/>
            </a:xfrm>
            <a:custGeom>
              <a:avLst/>
              <a:gdLst/>
              <a:ahLst/>
              <a:cxnLst/>
              <a:rect r="r" b="b" t="t" l="l"/>
              <a:pathLst>
                <a:path h="1582500" w="1539768">
                  <a:moveTo>
                    <a:pt x="0" y="0"/>
                  </a:moveTo>
                  <a:lnTo>
                    <a:pt x="1539768" y="0"/>
                  </a:lnTo>
                  <a:lnTo>
                    <a:pt x="1539768" y="1582500"/>
                  </a:lnTo>
                  <a:lnTo>
                    <a:pt x="0" y="1582500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39768" cy="160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Asset-Light Model 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Eliminates expensive licenses by strictly leveraging public booking channels.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Self-Sustaining Loop 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Gamified B2C rewards incentivize a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cont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inuous supply of verified data.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</a:t>
              </a: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lti-Tier Monetization 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Freemium consumer tier paired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with premium B2G/B2B analytics dashboards.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Base Fare Isolation: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Separates base fare, taxes, UDF and convenience fees 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argeted Integration 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B2G dashboard purpose-built to plug directly into RBI &amp; NSO pipelines.</a:t>
              </a:r>
            </a:p>
            <a:p>
              <a:pPr algn="l" marL="431796" indent="-215898" lvl="1">
                <a:lnSpc>
                  <a:spcPts val="2373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Execution-Ready Team 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In-house expertise spans Python scrapers, ML pipelines, and Next.js dashboards.</a:t>
              </a:r>
            </a:p>
            <a:p>
              <a:pPr algn="l">
                <a:lnSpc>
                  <a:spcPts val="249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79087" y="1993828"/>
            <a:ext cx="5889003" cy="604837"/>
            <a:chOff x="0" y="0"/>
            <a:chExt cx="1551013" cy="1592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1013" cy="159299"/>
            </a:xfrm>
            <a:custGeom>
              <a:avLst/>
              <a:gdLst/>
              <a:ahLst/>
              <a:cxnLst/>
              <a:rect r="r" b="b" t="t" l="l"/>
              <a:pathLst>
                <a:path h="159299" w="1551013">
                  <a:moveTo>
                    <a:pt x="0" y="0"/>
                  </a:moveTo>
                  <a:lnTo>
                    <a:pt x="1551013" y="0"/>
                  </a:lnTo>
                  <a:lnTo>
                    <a:pt x="1551013" y="159299"/>
                  </a:lnTo>
                  <a:lnTo>
                    <a:pt x="0" y="159299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551013" cy="168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Economic Viability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290590" y="2621992"/>
            <a:ext cx="3985937" cy="5484890"/>
          </a:xfrm>
          <a:custGeom>
            <a:avLst/>
            <a:gdLst/>
            <a:ahLst/>
            <a:cxnLst/>
            <a:rect r="r" b="b" t="t" l="l"/>
            <a:pathLst>
              <a:path h="5484890" w="3985937">
                <a:moveTo>
                  <a:pt x="0" y="0"/>
                </a:moveTo>
                <a:lnTo>
                  <a:pt x="3985937" y="0"/>
                </a:lnTo>
                <a:lnTo>
                  <a:pt x="3985937" y="5484890"/>
                </a:lnTo>
                <a:lnTo>
                  <a:pt x="0" y="5484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99" r="0" b="-3807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01662" y="508444"/>
            <a:ext cx="122405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239" u="sng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FEASIBILITY AND VIABILITY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196" y="823143"/>
            <a:ext cx="11526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APNAK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AutoShape 24" id="24"/>
          <p:cNvSpPr/>
          <p:nvPr/>
        </p:nvSpPr>
        <p:spPr>
          <a:xfrm flipV="true">
            <a:off x="0" y="7990219"/>
            <a:ext cx="184354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16287" y="8662716"/>
            <a:ext cx="4574866" cy="1188285"/>
            <a:chOff x="0" y="0"/>
            <a:chExt cx="1204903" cy="3129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4903" cy="312964"/>
            </a:xfrm>
            <a:custGeom>
              <a:avLst/>
              <a:gdLst/>
              <a:ahLst/>
              <a:cxnLst/>
              <a:rect r="r" b="b" t="t" l="l"/>
              <a:pathLst>
                <a:path h="312964" w="1204903">
                  <a:moveTo>
                    <a:pt x="0" y="0"/>
                  </a:moveTo>
                  <a:lnTo>
                    <a:pt x="1204903" y="0"/>
                  </a:lnTo>
                  <a:lnTo>
                    <a:pt x="1204903" y="312964"/>
                  </a:lnTo>
                  <a:lnTo>
                    <a:pt x="0" y="312964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204903" cy="398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9"/>
                </a:lnSpc>
              </a:pPr>
              <a:r>
                <a:rPr lang="en-US" b="true" sz="2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DGCA + MoSPI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48303" y="8662716"/>
            <a:ext cx="4467768" cy="1236839"/>
            <a:chOff x="0" y="0"/>
            <a:chExt cx="1176696" cy="325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6696" cy="325752"/>
            </a:xfrm>
            <a:custGeom>
              <a:avLst/>
              <a:gdLst/>
              <a:ahLst/>
              <a:cxnLst/>
              <a:rect r="r" b="b" t="t" l="l"/>
              <a:pathLst>
                <a:path h="325752" w="1176696">
                  <a:moveTo>
                    <a:pt x="0" y="0"/>
                  </a:moveTo>
                  <a:lnTo>
                    <a:pt x="1176696" y="0"/>
                  </a:lnTo>
                  <a:lnTo>
                    <a:pt x="1176696" y="325752"/>
                  </a:lnTo>
                  <a:lnTo>
                    <a:pt x="0" y="325752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176696" cy="411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9"/>
                </a:lnSpc>
              </a:pPr>
              <a:r>
                <a:rPr lang="en-US" sz="25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Daily 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Automated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73221" y="8662716"/>
            <a:ext cx="4467768" cy="1236839"/>
            <a:chOff x="0" y="0"/>
            <a:chExt cx="1176696" cy="325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6696" cy="325752"/>
            </a:xfrm>
            <a:custGeom>
              <a:avLst/>
              <a:gdLst/>
              <a:ahLst/>
              <a:cxnLst/>
              <a:rect r="r" b="b" t="t" l="l"/>
              <a:pathLst>
                <a:path h="325752" w="1176696">
                  <a:moveTo>
                    <a:pt x="0" y="0"/>
                  </a:moveTo>
                  <a:lnTo>
                    <a:pt x="1176696" y="0"/>
                  </a:lnTo>
                  <a:lnTo>
                    <a:pt x="1176696" y="325752"/>
                  </a:lnTo>
                  <a:lnTo>
                    <a:pt x="0" y="325752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1176696" cy="411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9"/>
                </a:lnSpc>
              </a:pPr>
              <a:r>
                <a:rPr lang="en-US" sz="25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30-Day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Benchmark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98140" y="8662716"/>
            <a:ext cx="4369893" cy="1236839"/>
            <a:chOff x="0" y="0"/>
            <a:chExt cx="1150918" cy="325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0918" cy="325752"/>
            </a:xfrm>
            <a:custGeom>
              <a:avLst/>
              <a:gdLst/>
              <a:ahLst/>
              <a:cxnLst/>
              <a:rect r="r" b="b" t="t" l="l"/>
              <a:pathLst>
                <a:path h="325752" w="1150918">
                  <a:moveTo>
                    <a:pt x="0" y="0"/>
                  </a:moveTo>
                  <a:lnTo>
                    <a:pt x="1150918" y="0"/>
                  </a:lnTo>
                  <a:lnTo>
                    <a:pt x="1150918" y="325752"/>
                  </a:lnTo>
                  <a:lnTo>
                    <a:pt x="0" y="325752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1150918" cy="411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9"/>
                </a:lnSpc>
              </a:pPr>
              <a:r>
                <a:rPr lang="en-US" sz="25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API +Dashboard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5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NSO/RBI Ready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287" y="7990219"/>
            <a:ext cx="4574866" cy="648906"/>
            <a:chOff x="0" y="0"/>
            <a:chExt cx="1204903" cy="1709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4903" cy="170905"/>
            </a:xfrm>
            <a:custGeom>
              <a:avLst/>
              <a:gdLst/>
              <a:ahLst/>
              <a:cxnLst/>
              <a:rect r="r" b="b" t="t" l="l"/>
              <a:pathLst>
                <a:path h="170905" w="1204903">
                  <a:moveTo>
                    <a:pt x="0" y="0"/>
                  </a:moveTo>
                  <a:lnTo>
                    <a:pt x="1204903" y="0"/>
                  </a:lnTo>
                  <a:lnTo>
                    <a:pt x="1204903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204903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REAL 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73221" y="7990219"/>
            <a:ext cx="4467768" cy="648906"/>
            <a:chOff x="0" y="0"/>
            <a:chExt cx="1176696" cy="1709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6696" cy="170905"/>
            </a:xfrm>
            <a:custGeom>
              <a:avLst/>
              <a:gdLst/>
              <a:ahLst/>
              <a:cxnLst/>
              <a:rect r="r" b="b" t="t" l="l"/>
              <a:pathLst>
                <a:path h="170905" w="1176696">
                  <a:moveTo>
                    <a:pt x="0" y="0"/>
                  </a:moveTo>
                  <a:lnTo>
                    <a:pt x="1176696" y="0"/>
                  </a:lnTo>
                  <a:lnTo>
                    <a:pt x="1176696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176696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VALIDATED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748303" y="7990219"/>
            <a:ext cx="4467768" cy="648906"/>
            <a:chOff x="0" y="0"/>
            <a:chExt cx="1176696" cy="17090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6696" cy="170905"/>
            </a:xfrm>
            <a:custGeom>
              <a:avLst/>
              <a:gdLst/>
              <a:ahLst/>
              <a:cxnLst/>
              <a:rect r="r" b="b" t="t" l="l"/>
              <a:pathLst>
                <a:path h="170905" w="1176696">
                  <a:moveTo>
                    <a:pt x="0" y="0"/>
                  </a:moveTo>
                  <a:lnTo>
                    <a:pt x="1176696" y="0"/>
                  </a:lnTo>
                  <a:lnTo>
                    <a:pt x="1176696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176696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SCALABLE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98140" y="7990219"/>
            <a:ext cx="4369893" cy="648906"/>
            <a:chOff x="0" y="0"/>
            <a:chExt cx="1150918" cy="1709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50918" cy="170905"/>
            </a:xfrm>
            <a:custGeom>
              <a:avLst/>
              <a:gdLst/>
              <a:ahLst/>
              <a:cxnLst/>
              <a:rect r="r" b="b" t="t" l="l"/>
              <a:pathLst>
                <a:path h="170905" w="1150918">
                  <a:moveTo>
                    <a:pt x="0" y="0"/>
                  </a:moveTo>
                  <a:lnTo>
                    <a:pt x="1150918" y="0"/>
                  </a:lnTo>
                  <a:lnTo>
                    <a:pt x="1150918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150918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DEPLOYABLE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0" y="9793313"/>
            <a:ext cx="18288000" cy="475243"/>
            <a:chOff x="0" y="0"/>
            <a:chExt cx="4816593" cy="1251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16592" cy="125167"/>
            </a:xfrm>
            <a:custGeom>
              <a:avLst/>
              <a:gdLst/>
              <a:ahLst/>
              <a:cxnLst/>
              <a:rect r="r" b="b" t="t" l="l"/>
              <a:pathLst>
                <a:path h="1251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167"/>
                  </a:lnTo>
                  <a:lnTo>
                    <a:pt x="0" y="12516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816593" cy="18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7741522" y="9812495"/>
            <a:ext cx="176808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232" y="265932"/>
            <a:ext cx="2114549" cy="1443036"/>
            <a:chOff x="0" y="0"/>
            <a:chExt cx="2819398" cy="192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9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1924050"/>
                  </a:lnTo>
                  <a:lnTo>
                    <a:pt x="0" y="192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2987" y="84582"/>
            <a:ext cx="3314698" cy="1685924"/>
            <a:chOff x="0" y="0"/>
            <a:chExt cx="4419598" cy="2247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3" t="0" r="-362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13327" y="363563"/>
            <a:ext cx="122405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262" u="sng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IMPACT AND BENEFITS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0581" y="9627102"/>
            <a:ext cx="3395662" cy="31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53942" y="9627102"/>
            <a:ext cx="260985" cy="31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i="true" spc="-75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3186" y="754088"/>
            <a:ext cx="1128641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APNAK</a:t>
            </a:r>
          </a:p>
          <a:p>
            <a:pPr algn="l">
              <a:lnSpc>
                <a:spcPts val="35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380865" y="1708968"/>
            <a:ext cx="4352925" cy="648906"/>
            <a:chOff x="0" y="0"/>
            <a:chExt cx="1146449" cy="170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6449" cy="170905"/>
            </a:xfrm>
            <a:custGeom>
              <a:avLst/>
              <a:gdLst/>
              <a:ahLst/>
              <a:cxnLst/>
              <a:rect r="r" b="b" t="t" l="l"/>
              <a:pathLst>
                <a:path h="170905" w="1146449">
                  <a:moveTo>
                    <a:pt x="0" y="0"/>
                  </a:moveTo>
                  <a:lnTo>
                    <a:pt x="1146449" y="0"/>
                  </a:lnTo>
                  <a:lnTo>
                    <a:pt x="1146449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46449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Target Impact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01150" y="1708968"/>
            <a:ext cx="4352925" cy="648906"/>
            <a:chOff x="0" y="0"/>
            <a:chExt cx="1146449" cy="17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6449" cy="170905"/>
            </a:xfrm>
            <a:custGeom>
              <a:avLst/>
              <a:gdLst/>
              <a:ahLst/>
              <a:cxnLst/>
              <a:rect r="r" b="b" t="t" l="l"/>
              <a:pathLst>
                <a:path h="170905" w="1146449">
                  <a:moveTo>
                    <a:pt x="0" y="0"/>
                  </a:moveTo>
                  <a:lnTo>
                    <a:pt x="1146449" y="0"/>
                  </a:lnTo>
                  <a:lnTo>
                    <a:pt x="1146449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46449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Business Model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91075" y="1708968"/>
            <a:ext cx="4352925" cy="648906"/>
            <a:chOff x="0" y="0"/>
            <a:chExt cx="1146449" cy="1709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6449" cy="170905"/>
            </a:xfrm>
            <a:custGeom>
              <a:avLst/>
              <a:gdLst/>
              <a:ahLst/>
              <a:cxnLst/>
              <a:rect r="r" b="b" t="t" l="l"/>
              <a:pathLst>
                <a:path h="170905" w="1146449">
                  <a:moveTo>
                    <a:pt x="0" y="0"/>
                  </a:moveTo>
                  <a:lnTo>
                    <a:pt x="1146449" y="0"/>
                  </a:lnTo>
                  <a:lnTo>
                    <a:pt x="1146449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46449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Strategic Alignment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11360" y="1708968"/>
            <a:ext cx="4352925" cy="648906"/>
            <a:chOff x="0" y="0"/>
            <a:chExt cx="1146449" cy="1709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6449" cy="170905"/>
            </a:xfrm>
            <a:custGeom>
              <a:avLst/>
              <a:gdLst/>
              <a:ahLst/>
              <a:cxnLst/>
              <a:rect r="r" b="b" t="t" l="l"/>
              <a:pathLst>
                <a:path h="170905" w="1146449">
                  <a:moveTo>
                    <a:pt x="0" y="0"/>
                  </a:moveTo>
                  <a:lnTo>
                    <a:pt x="1146449" y="0"/>
                  </a:lnTo>
                  <a:lnTo>
                    <a:pt x="1146449" y="170905"/>
                  </a:lnTo>
                  <a:lnTo>
                    <a:pt x="0" y="170905"/>
                  </a:lnTo>
                  <a:close/>
                </a:path>
              </a:pathLst>
            </a:custGeom>
            <a:solidFill>
              <a:srgbClr val="8AA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146449" cy="18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Future &amp; Scale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0232" y="2426658"/>
            <a:ext cx="4353558" cy="7621294"/>
            <a:chOff x="0" y="0"/>
            <a:chExt cx="1146616" cy="20072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6616" cy="2007254"/>
            </a:xfrm>
            <a:custGeom>
              <a:avLst/>
              <a:gdLst/>
              <a:ahLst/>
              <a:cxnLst/>
              <a:rect r="r" b="b" t="t" l="l"/>
              <a:pathLst>
                <a:path h="2007254" w="1146616">
                  <a:moveTo>
                    <a:pt x="0" y="0"/>
                  </a:moveTo>
                  <a:lnTo>
                    <a:pt x="1146616" y="0"/>
                  </a:lnTo>
                  <a:lnTo>
                    <a:pt x="1146616" y="2007254"/>
                  </a:lnTo>
                  <a:lnTo>
                    <a:pt x="0" y="2007254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146616" cy="2102504"/>
            </a:xfrm>
            <a:prstGeom prst="rect">
              <a:avLst/>
            </a:prstGeom>
          </p:spPr>
          <p:txBody>
            <a:bodyPr anchor="ctr" rtlCol="false" tIns="266700" lIns="266700" bIns="266700" rIns="266700"/>
            <a:lstStyle/>
            <a:p>
              <a:pPr algn="l">
                <a:lnSpc>
                  <a:spcPts val="3359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Macro Authorities:</a:t>
              </a:r>
              <a:r>
                <a:rPr lang="en-US" sz="20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Delivers high-frequency airfare metrics to MoSPI/RBI to eliminate static CPI lag.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Aviation Consumers:</a:t>
              </a:r>
              <a:r>
                <a:rPr lang="en-US" sz="20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Democratizes fare transparency, shielding travelers from dynamic surge gouging.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Economic Research:</a:t>
              </a:r>
              <a:r>
                <a:rPr lang="en-US" sz="20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Establishes an open, auditable benchmark dataset for aviation market dynamics.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90442" y="2426658"/>
            <a:ext cx="4353558" cy="7606905"/>
            <a:chOff x="0" y="0"/>
            <a:chExt cx="1146616" cy="20034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6616" cy="2003465"/>
            </a:xfrm>
            <a:custGeom>
              <a:avLst/>
              <a:gdLst/>
              <a:ahLst/>
              <a:cxnLst/>
              <a:rect r="r" b="b" t="t" l="l"/>
              <a:pathLst>
                <a:path h="2003465" w="1146616">
                  <a:moveTo>
                    <a:pt x="0" y="0"/>
                  </a:moveTo>
                  <a:lnTo>
                    <a:pt x="1146616" y="0"/>
                  </a:lnTo>
                  <a:lnTo>
                    <a:pt x="1146616" y="2003465"/>
                  </a:lnTo>
                  <a:lnTo>
                    <a:pt x="0" y="2003465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1146616" cy="2117765"/>
            </a:xfrm>
            <a:prstGeom prst="rect">
              <a:avLst/>
            </a:prstGeom>
          </p:spPr>
          <p:txBody>
            <a:bodyPr anchor="ctr" rtlCol="false" tIns="279400" lIns="279400" bIns="279400" rIns="279400"/>
            <a:lstStyle/>
            <a:p>
              <a:pPr algn="l">
                <a:lnSpc>
                  <a:spcPts val="3339"/>
                </a:lnSpc>
              </a:pPr>
              <a:r>
                <a:rPr lang="en-US" sz="1999" spc="2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Viksit Bharat &amp; DPI:</a:t>
              </a:r>
            </a:p>
            <a:p>
              <a:pPr algn="l">
                <a:lnSpc>
                  <a:spcPts val="3339"/>
                </a:lnSpc>
              </a:pPr>
              <a:r>
                <a:rPr lang="en-US" sz="1999" spc="2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sz="1999" spc="2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Advances India's Data Governance by modernizing national stats via automated pipelines.</a:t>
              </a:r>
            </a:p>
            <a:p>
              <a:pPr algn="l">
                <a:lnSpc>
                  <a:spcPts val="3506"/>
                </a:lnSpc>
              </a:pPr>
            </a:p>
            <a:p>
              <a:pPr algn="l">
                <a:lnSpc>
                  <a:spcPts val="3339"/>
                </a:lnSpc>
              </a:pPr>
              <a:r>
                <a:rPr lang="en-US" sz="1999" spc="2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 SDG 8</a:t>
              </a:r>
              <a:r>
                <a:rPr lang="en-US" sz="1999" spc="2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: </a:t>
              </a:r>
              <a:r>
                <a:rPr lang="en-US" sz="1999" spc="2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Strengthens monetary policy stability through accurate real-time price indexation.</a:t>
              </a:r>
            </a:p>
            <a:p>
              <a:pPr algn="l">
                <a:lnSpc>
                  <a:spcPts val="3506"/>
                </a:lnSpc>
              </a:pPr>
            </a:p>
            <a:p>
              <a:pPr algn="l">
                <a:lnSpc>
                  <a:spcPts val="3506"/>
                </a:lnSpc>
              </a:pPr>
              <a:r>
                <a:rPr lang="en-US" sz="2099" spc="3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 SDG 9 &amp; 12: </a:t>
              </a:r>
              <a:r>
                <a:rPr lang="en-US" sz="2099" spc="3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Upgrades legacy infrastructure with AI while driving market consumption transparency.</a:t>
              </a:r>
            </a:p>
            <a:p>
              <a:pPr algn="l">
                <a:lnSpc>
                  <a:spcPts val="350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00517" y="2426658"/>
            <a:ext cx="4353558" cy="7904746"/>
            <a:chOff x="0" y="0"/>
            <a:chExt cx="1146616" cy="20819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6616" cy="2081908"/>
            </a:xfrm>
            <a:custGeom>
              <a:avLst/>
              <a:gdLst/>
              <a:ahLst/>
              <a:cxnLst/>
              <a:rect r="r" b="b" t="t" l="l"/>
              <a:pathLst>
                <a:path h="2081908" w="1146616">
                  <a:moveTo>
                    <a:pt x="0" y="0"/>
                  </a:moveTo>
                  <a:lnTo>
                    <a:pt x="1146616" y="0"/>
                  </a:lnTo>
                  <a:lnTo>
                    <a:pt x="1146616" y="2081908"/>
                  </a:lnTo>
                  <a:lnTo>
                    <a:pt x="0" y="2081908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146616" cy="2177158"/>
            </a:xfrm>
            <a:prstGeom prst="rect">
              <a:avLst/>
            </a:prstGeom>
          </p:spPr>
          <p:txBody>
            <a:bodyPr anchor="t" rtlCol="false" tIns="393700" lIns="393700" bIns="393700" rIns="393700"/>
            <a:lstStyle/>
            <a:p>
              <a:pPr algn="l" marL="431796" indent="-215898" lvl="1">
                <a:lnSpc>
                  <a:spcPts val="31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Monetary Calibration: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Quantifies true transport inflation by applying the official 8.59% CPI Transport weight to real-time fare data.</a:t>
              </a:r>
            </a:p>
            <a:p>
              <a:pPr algn="l">
                <a:lnSpc>
                  <a:spcPts val="3199"/>
                </a:lnSpc>
              </a:pPr>
            </a:p>
            <a:p>
              <a:pPr algn="l" marL="431796" indent="-215898" lvl="1">
                <a:lnSpc>
                  <a:spcPts val="31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Inflation Gap Tracking: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visibility into whether air travel is inflating faster than general headline CPI. </a:t>
              </a:r>
            </a:p>
            <a:p>
              <a:pPr algn="l">
                <a:lnSpc>
                  <a:spcPts val="3199"/>
                </a:lnSpc>
              </a:pPr>
            </a:p>
            <a:p>
              <a:pPr algn="l" marL="431796" indent="-215898" lvl="1">
                <a:lnSpc>
                  <a:spcPts val="31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High-Frequency Signal:</a:t>
              </a:r>
              <a:r>
                <a:rPr lang="en-US" b="true" sz="19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Eliminates the 30–45 day reporting lag for central bank policy meetings.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11360" y="2426658"/>
            <a:ext cx="4353558" cy="7608722"/>
            <a:chOff x="0" y="0"/>
            <a:chExt cx="1146616" cy="20039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6616" cy="2003943"/>
            </a:xfrm>
            <a:custGeom>
              <a:avLst/>
              <a:gdLst/>
              <a:ahLst/>
              <a:cxnLst/>
              <a:rect r="r" b="b" t="t" l="l"/>
              <a:pathLst>
                <a:path h="2003943" w="1146616">
                  <a:moveTo>
                    <a:pt x="0" y="0"/>
                  </a:moveTo>
                  <a:lnTo>
                    <a:pt x="1146616" y="0"/>
                  </a:lnTo>
                  <a:lnTo>
                    <a:pt x="1146616" y="2003943"/>
                  </a:lnTo>
                  <a:lnTo>
                    <a:pt x="0" y="2003943"/>
                  </a:lnTo>
                  <a:close/>
                </a:path>
              </a:pathLst>
            </a:custGeom>
            <a:solidFill>
              <a:srgbClr val="C8D1D9">
                <a:alpha val="392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1146616" cy="2137293"/>
            </a:xfrm>
            <a:prstGeom prst="rect">
              <a:avLst/>
            </a:prstGeom>
          </p:spPr>
          <p:txBody>
            <a:bodyPr anchor="ctr" rtlCol="false" tIns="279400" lIns="279400" bIns="279400" rIns="279400"/>
            <a:lstStyle/>
            <a:p>
              <a:pPr algn="l">
                <a:lnSpc>
                  <a:spcPts val="3758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Multi-Modal Index 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Expanding scraper pipelines beyond aviation to capture premium rail and buses.</a:t>
              </a:r>
            </a:p>
            <a:p>
              <a:pPr algn="l">
                <a:lnSpc>
                  <a:spcPts val="3758"/>
                </a:lnSpc>
              </a:pPr>
            </a:p>
            <a:p>
              <a:pPr algn="l">
                <a:lnSpc>
                  <a:spcPts val="3758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Nowcasting Engine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Integrating ML time-series models to predict transport inflation ahead of stats.</a:t>
              </a:r>
            </a:p>
            <a:p>
              <a:pPr algn="l">
                <a:lnSpc>
                  <a:spcPts val="3758"/>
                </a:lnSpc>
              </a:pPr>
            </a:p>
            <a:p>
              <a:pPr algn="l">
                <a:lnSpc>
                  <a:spcPts val="3758"/>
                </a:lnSpc>
              </a:pPr>
              <a:r>
                <a:rPr lang="en-US" sz="20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Regional Expansion : </a:t>
              </a:r>
              <a:r>
                <a:rPr lang="en-US" sz="2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Scaling distributed ingestion to cover major South Asian and cross-border corridors.</a:t>
              </a:r>
            </a:p>
            <a:p>
              <a:pPr algn="l">
                <a:lnSpc>
                  <a:spcPts val="375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9793313"/>
            <a:ext cx="18288000" cy="475243"/>
            <a:chOff x="0" y="0"/>
            <a:chExt cx="4816593" cy="1251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16592" cy="125167"/>
            </a:xfrm>
            <a:custGeom>
              <a:avLst/>
              <a:gdLst/>
              <a:ahLst/>
              <a:cxnLst/>
              <a:rect r="r" b="b" t="t" l="l"/>
              <a:pathLst>
                <a:path h="1251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167"/>
                  </a:lnTo>
                  <a:lnTo>
                    <a:pt x="0" y="12516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816593" cy="18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743606" y="9812495"/>
            <a:ext cx="172641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232" y="265932"/>
            <a:ext cx="2114549" cy="1443036"/>
            <a:chOff x="0" y="0"/>
            <a:chExt cx="2819398" cy="192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9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1924050"/>
                  </a:lnTo>
                  <a:lnTo>
                    <a:pt x="0" y="192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2987" y="84582"/>
            <a:ext cx="3314698" cy="1685924"/>
            <a:chOff x="0" y="0"/>
            <a:chExt cx="4419598" cy="2247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3" t="0" r="-362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27088" y="609600"/>
            <a:ext cx="122405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381" u="sng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RESEARCH AND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3942" y="9627102"/>
            <a:ext cx="260985" cy="31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i="true" spc="-75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639" y="823143"/>
            <a:ext cx="1224557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2999" spc="-1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APNAK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5184" y="2374871"/>
            <a:ext cx="304602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 spc="-16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REFERENCES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9793313"/>
            <a:ext cx="18288000" cy="475243"/>
            <a:chOff x="0" y="0"/>
            <a:chExt cx="4816593" cy="1251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125167"/>
            </a:xfrm>
            <a:custGeom>
              <a:avLst/>
              <a:gdLst/>
              <a:ahLst/>
              <a:cxnLst/>
              <a:rect r="r" b="b" t="t" l="l"/>
              <a:pathLst>
                <a:path h="1251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167"/>
                  </a:lnTo>
                  <a:lnTo>
                    <a:pt x="0" y="12516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816593" cy="18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735986" y="9812495"/>
            <a:ext cx="187881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670" y="3010542"/>
            <a:ext cx="17515015" cy="576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Reference &amp; Research Sources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MoSPI eSankhyiki (CPI Data): </a:t>
            </a: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esankhyiki.mospi.gov.in"/>
              </a:rPr>
              <a:t>https://esankhyiki.mospi.gov.in/ 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DGCA (Air Traffic &amp; Fare Data): </a:t>
            </a: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www.dgca.gov.in"/>
              </a:rPr>
              <a:t>https://www.dgca.gov.in/ 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RBI (Inflation &amp; Monetary Policy): </a:t>
            </a: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www.rbi.org.in"/>
              </a:rPr>
              <a:t>https://www.rbi.org.in/ 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Sustainable Development Goals (SDGs): </a:t>
            </a: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www.un.org/sustainabledevelopment/"/>
              </a:rPr>
              <a:t>https://www.un.org/sustainabledevelopment/ 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NSO/MoSPI: CPI Compilation Manual &amp; Methodology Notes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Index Construction: Laspeyres, Tornqvist &amp; Divisia CPI research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Benchmarks: US BLS Airline Fare CPI &amp; EU HICP Air Transport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Ethical Scraping: RFC 9309 (robots.txt), Scrapy &amp; Playwright documentation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Research Datasets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8" tooltip="https://www.kaggle.com/datasets/yashdharme36/airfare-ml-predicting-flight-fares"/>
              </a:rPr>
              <a:t>https://www.kaggle.com/datasets/yashdharme36/airfare-ml-predicting-flight-fares </a:t>
            </a:r>
          </a:p>
          <a:p>
            <a:pPr algn="l" marL="589807" indent="-294903" lvl="1">
              <a:lnSpc>
                <a:spcPts val="3242"/>
              </a:lnSpc>
              <a:buFont typeface="Arial"/>
              <a:buChar char="•"/>
            </a:pPr>
            <a:r>
              <a:rPr lang="en-US" sz="273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Vonter/india-aviation-traffic"/>
              </a:rPr>
              <a:t>https://github.com/Vonter/india-aviation-traffic 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DAHUyO56oXY</dc:identifier>
  <dcterms:modified xsi:type="dcterms:W3CDTF">2011-08-01T06:04:30Z</dcterms:modified>
  <cp:revision>1</cp:revision>
  <dc:title>SAPNAK</dc:title>
</cp:coreProperties>
</file>